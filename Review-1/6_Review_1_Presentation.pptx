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presenting EAIOS, an Enterprise AI Operating System. The core claim we will defend today is that a multi-tenant AI platform must enforce data isolation in the database, not in application code — and we have empirical evidence for that from our own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points the notice asks for. We will take them in this order and finish with a live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78 percent adoption, about 6 percent scaled. That gap is not a model problem. It is an engineering problem, and that is what we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reviewed ten primary sources across NeurIPS, EMNLP, ICLR, ACM Computing Surveys, Microsoft Research and OWASP. Every citation is real and retrievable — we can show the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contribution statement. The literature solves each piece separately. We integrate them, and critically, we prove the isolation rather than assert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honest here: the survey is designed and going out, results come in Review II. But our second primary source is complete — we measured our own system under a ten-pass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layers. The bottom one is where our contribution lives — three-layer tenant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We did not find this by accident — we found it by testing. And the fix is not just a patch: we moved the guarantee into the database so that this class of bug cannot leak data again, no matter what SQL the model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us why three layers. The answer: because we watched layer two fail. That is the honest engineering argument for defence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these are worth calling out. The N+1 fix took the task board from 202 database round trips to 2. And the bundle went from 861 KB to 302 KB through code splitting.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documents are in the submission folder. Then we will demonstrate the system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we built it, we tested it hard enough to break it, we fixed it, and we documented all of it.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920240"/>
            <a:ext cx="5852160" cy="585216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91840"/>
            <a:ext cx="4937760" cy="493776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8132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EAIOS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22960" y="2542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Enterprise AI Operating System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hybrid RAG · orchestrated agents · database-enforced tenant isolation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3200400" cy="384048"/>
          </a:xfrm>
          <a:prstGeom prst="roundRect">
            <a:avLst>
              <a:gd name="adj" fmla="val 4761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86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INTERNAL REVIEW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Dalvi  ·  [Teammate 2]  ·  [Teammate 3]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Name]   |   Coordinator: Mrs. Sharayu Patil   |   HOD: Mrs. C. M. Pandit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 · Vishwaniketan iMEET · 5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points required for Review 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521208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88366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1828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Research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5608" y="219456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+ academic evidence that the problem is real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27632"/>
            <a:ext cx="521208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188366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96328" y="1828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Research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96328" y="219456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survey instrument and measured system evaluation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521208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33649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33101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35608" y="367588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our approach and what we built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108960"/>
            <a:ext cx="521208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33649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96328" y="33101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96328" y="367588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primary sources, and the gap between them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590288"/>
            <a:ext cx="521208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" y="48463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35608" y="47914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Paper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35608" y="515721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IEEE-format paper drafted and ready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590288"/>
            <a:ext cx="521208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11112" y="48463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611112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96328" y="47914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96328" y="515721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running live, and our results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not the bottleneck — operationalisation 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organisations face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model knows nothing about your internal documents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arrive with no source — so they cannot be acted 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scattered across mail, drives, sheets and PDFs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shared platform: can another company see my data?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212080" cy="2788920"/>
          </a:xfrm>
          <a:prstGeom prst="roundRect">
            <a:avLst>
              <a:gd name="adj" fmla="val 2951"/>
            </a:avLst>
          </a:prstGeom>
          <a:solidFill>
            <a:srgbClr val="21295C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677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in at least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business function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006840" y="22677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00684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scaled 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3913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State of AI, Global Survey 2025 — n = 1,993 across 105 nations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4590288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8F4F1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those two numbers is where this project sits. The missing piece is the system around the model — ingestion, grounding, isolation, governance.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Secondary Research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primary sources — every one verifiable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46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Lewis et al.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retrieve, then generate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627632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46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Karpukhin et 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048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2020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03920" y="18288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beats BM25 by 9–19%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88336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 et 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CSUR 2023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0" y="288950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vs extrinsic hallucination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688336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Yao et al.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03920" y="288950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reasoning + acting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749040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 et al.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2018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0" y="39502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— text-to-SQL is hard (9.7%)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749040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et al.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8368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 2024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03920" y="39502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for corpus-level questions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809744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928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5230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Top 10, 2025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50109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ranked #1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4809744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4928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/ industry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83680" y="5230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503920" y="50109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schema is weakest — use RLS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in the Secondary Research and Literature Review documents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is solved in isolation. Nobody joins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2E3A6E"/>
          </a:solidFill>
          <a:ln w="12700">
            <a:solidFill>
              <a:srgbClr val="3F4E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751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RAG is unstudied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0" y="183794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research assumes ONE corpus. It never asks what happens when retrieving the wrong document is a data breach.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862072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2E3A6E"/>
          </a:solidFill>
          <a:ln w="12700">
            <a:solidFill>
              <a:srgbClr val="3F4E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14553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990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Text-to-SQL ignores execution safety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0" y="3008376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optimise accuracy. Almost nothing addresses running model-written SQL on a shared live database.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032504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2E3A6E"/>
          </a:solidFill>
          <a:ln w="12700">
            <a:solidFill>
              <a:srgbClr val="3F4E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159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Tenancy guidance predates LLMs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0" y="417880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patterns assume queries written by programmers — not composed at runtime by a language model.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5202936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2E3A6E"/>
          </a:solidFill>
          <a:ln w="12700">
            <a:solidFill>
              <a:srgbClr val="3F4E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4864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330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is claimed, not proven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0" y="534924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no published account of a system's tenant separation being adversarially tested and the result reported.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Primary Research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a user survey, and measurement of our own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534924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User Survey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questions · Google Forms · 5 sections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 = 40+, purposive + snowball sampling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voluntary, no personal data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measure: does a citation change willingness to act on an AI answer?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window 2–4 Aug; results in Review II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828032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91947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instrument built and piloted — distribution in progress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627632"/>
            <a:ext cx="5212080" cy="4069080"/>
          </a:xfrm>
          <a:prstGeom prst="roundRect">
            <a:avLst>
              <a:gd name="adj" fmla="val 2022"/>
            </a:avLst>
          </a:prstGeom>
          <a:solidFill>
            <a:srgbClr val="21295C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System Evaluation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212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Completed. Ten-pass structured audit — every figure measured, not estimated.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2788920"/>
            <a:ext cx="2286000" cy="1115568"/>
          </a:xfrm>
          <a:prstGeom prst="roundRect">
            <a:avLst>
              <a:gd name="adj" fmla="val 6557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9169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29400" y="34655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documented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16568" y="2788920"/>
            <a:ext cx="2286000" cy="1115568"/>
          </a:xfrm>
          <a:prstGeom prst="roundRect">
            <a:avLst>
              <a:gd name="adj" fmla="val 6557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16568" y="29169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16568" y="34655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severity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4087368"/>
            <a:ext cx="2286000" cy="1115568"/>
          </a:xfrm>
          <a:prstGeom prst="roundRect">
            <a:avLst>
              <a:gd name="adj" fmla="val 6557"/>
            </a:avLst>
          </a:prstGeom>
          <a:solidFill>
            <a:srgbClr val="2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2153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29400" y="47640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16568" y="4087368"/>
            <a:ext cx="2286000" cy="1115568"/>
          </a:xfrm>
          <a:prstGeom prst="roundRect">
            <a:avLst>
              <a:gd name="adj" fmla="val 6557"/>
            </a:avLst>
          </a:prstGeom>
          <a:solidFill>
            <a:srgbClr val="2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9116568" y="42153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116568" y="47640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Abstract — 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80 endpoints, 21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847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apps in a browser desktop · React + TypeScript · ~9,400 lines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505456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1F6E8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883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7066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REST endpoints · FastAPI · JWT · 4 roles · rate limited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364992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26788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47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+ 13 agents · routing · parallel fan-out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224528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2D829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07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44256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chunking · hybrid lexical + dense search · entity 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5084064"/>
            <a:ext cx="10972800" cy="731520"/>
          </a:xfrm>
          <a:prstGeom prst="roundRect">
            <a:avLst>
              <a:gd name="adj" fmla="val 875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66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5285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21 tables · 3-layer tenant isolation · ~12,600 lines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returns with document citations and a confidence score — never unattributed text.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Finding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033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our own isolation guard — and it failed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0972800" cy="1170432"/>
          </a:xfrm>
          <a:prstGeom prst="roundRect">
            <a:avLst>
              <a:gd name="adj" fmla="val 6250"/>
            </a:avLst>
          </a:prstGeom>
          <a:solidFill>
            <a:srgbClr val="3A2246"/>
          </a:solidFill>
          <a:ln w="12700">
            <a:solidFill>
              <a:srgbClr val="7A4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1907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schema-qualified table name slipped past our SQL guard: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299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public.tasks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returned every workspace's records, including all user emails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99232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31821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" y="3675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" y="39684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tenants, on real PostgreSQL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92424" y="2999232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1880" y="31821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3675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39684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now fails closed on qualified names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90488" y="2999232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31821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3675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Regression-tested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9944" y="39684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bypass payloads locked in tests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88552" y="2999232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0F5C4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08008" y="31821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208008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08008" y="3675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impossible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08008" y="39684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RLS under a restricted role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4617720"/>
            <a:ext cx="10972800" cy="1298448"/>
          </a:xfrm>
          <a:prstGeom prst="roundRect">
            <a:avLst>
              <a:gd name="adj" fmla="val 5634"/>
            </a:avLst>
          </a:prstGeom>
          <a:solidFill>
            <a:srgbClr val="0F5C4A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754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with isolation moved into the database, an adversarial query carrying NO tenant filter at all 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474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email FROM users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54132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only the caller's own 4 users. Zero cross-tenant leak. The tenant registry was unreadable.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Tenant Isolation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 — each layer independent of the others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56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Application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interceptor scopes every query and stamps every insert with the caller's workspace.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138160" y="2039112"/>
            <a:ext cx="3108960" cy="548640"/>
          </a:xfrm>
          <a:prstGeom prst="roundRect">
            <a:avLst>
              <a:gd name="adj" fmla="val 46667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0391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ordinary code paths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1F6E8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73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Query Guard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Model-generated SQL is rewritten so each tenant table becomes a workspace-scoped subquery. Fails closed.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3456432"/>
            <a:ext cx="3108960" cy="548640"/>
          </a:xfrm>
          <a:prstGeom prst="roundRect">
            <a:avLst>
              <a:gd name="adj" fmla="val 46667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34564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unsafe generated SQL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52628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0F5C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690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Database (RLS)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5074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executes as a low-privilege role under Row-Level Security. Other tenants' rows are invisible to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4873752"/>
            <a:ext cx="3108960" cy="548640"/>
          </a:xfrm>
          <a:prstGeom prst="roundRect">
            <a:avLst>
              <a:gd name="adj" fmla="val 46667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4873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bypassed by any query text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exists because Layer 2 was proven insufficient — by our own testing.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below was measured, not estimated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10972800" cy="475488"/>
          </a:xfrm>
          <a:prstGeom prst="roundRect">
            <a:avLst>
              <a:gd name="adj" fmla="val 11538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0" y="1627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78240" y="1627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57984"/>
            <a:ext cx="10972800" cy="530352"/>
          </a:xfrm>
          <a:prstGeom prst="rect">
            <a:avLst/>
          </a:prstGeom>
          <a:solidFill>
            <a:srgbClr val="EDF3F8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579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read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0" y="21579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tenants' rows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0" y="21579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only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734056"/>
            <a:ext cx="10972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3405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board queries (200 rows)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27340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round trips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0" y="27340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round trips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310128"/>
            <a:ext cx="10972800" cy="530352"/>
          </a:xfrm>
          <a:prstGeom prst="rect">
            <a:avLst/>
          </a:prstGeom>
          <a:solidFill>
            <a:srgbClr val="EDF3F8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1012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JS payload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60720" y="33101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861 KB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33101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KB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886200"/>
            <a:ext cx="10972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86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probes (23, two tenants)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60720" y="38862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78240" y="38862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leaks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462272"/>
            <a:ext cx="10972800" cy="530352"/>
          </a:xfrm>
          <a:prstGeom prst="rect">
            <a:avLst/>
          </a:prstGeom>
          <a:solidFill>
            <a:srgbClr val="EDF3F8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6227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60720" y="44622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78240" y="44622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passing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038344"/>
            <a:ext cx="10972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383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open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60720" y="50383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78240" y="50383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" y="5779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verified: LLM outage → cited excerpts, no failure · Marathi/Chinese/RTL/emoji round-trip byte-identical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Literature Review   5 · Survey Paper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documents are complete and submitted with this review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primary sources, critically assessed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comparison table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research-gap statement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C4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8745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Paper (IEEE)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304288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IEEE format, 7 sections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gap, architecture, results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C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conference submission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224528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07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Live Demonstration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workspace → pick an industry → the platform configures itself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document → ask a question → answer returns with citations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spreadsheet a question in plain English (NL → SQL)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eaios.onrender.com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937760" cy="493776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766560" cy="731520"/>
          </a:xfrm>
          <a:prstGeom prst="roundRect">
            <a:avLst>
              <a:gd name="adj" fmla="val 8750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97480" y="1618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platform: 80 endpoints, 18 apps, 13 agents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95144"/>
            <a:ext cx="6766560" cy="731520"/>
          </a:xfrm>
          <a:prstGeom prst="roundRect">
            <a:avLst>
              <a:gd name="adj" fmla="val 8750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780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97480" y="2496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Ten-pass audit · 24 findings · all remediated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72968"/>
            <a:ext cx="6766560" cy="731520"/>
          </a:xfrm>
          <a:prstGeom prst="roundRect">
            <a:avLst>
              <a:gd name="adj" fmla="val 8750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97480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both research chapters, review, IEEE paper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2245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Review II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6451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analysed and charted (n = 40+)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benchmarked on a labelled corpus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6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isolation for dynamically extracted tables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141732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0F5C4A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D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 we defend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2029968"/>
            <a:ext cx="31272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AI platform must enforce isolation in the database — because we watched application-layer isolation fail, in our own code.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0533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2026-08-01T03:07:40Z</dcterms:created>
  <dcterms:modified xsi:type="dcterms:W3CDTF">2026-08-01T03:07:40Z</dcterms:modified>
</cp:coreProperties>
</file>